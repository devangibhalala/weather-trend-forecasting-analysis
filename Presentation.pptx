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16B7E2-C8FC-4A9A-A0FE-89B32FE3D68C}" v="214" dt="2026-05-24T05:03:44.983"/>
    <p1510:client id="{3CC00AD0-44A6-43E7-87CC-8CE6784F3D6C}" v="78" dt="2026-05-24T08:09:46.081"/>
    <p1510:client id="{B78D567B-B499-46A6-B2D7-4B98EE09604F}" v="28" dt="2026-05-25T05:27:00.707"/>
    <p1510:client id="{DA7206B4-9F15-4EB8-84E7-F5CA43878B26}" v="188" dt="2026-05-24T07:44:10.446"/>
    <p1510:client id="{DACD8A3B-5BC4-491A-B2CE-13C5EBE5089B}" v="344" dt="2026-05-24T06:26:57.2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9493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56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76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595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56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237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01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805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822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613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021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005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2" r:id="rId6"/>
    <p:sldLayoutId id="2147483738" r:id="rId7"/>
    <p:sldLayoutId id="2147483739" r:id="rId8"/>
    <p:sldLayoutId id="2147483740" r:id="rId9"/>
    <p:sldLayoutId id="2147483741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vangiBhalala" TargetMode="External"/><Relationship Id="rId2" Type="http://schemas.openxmlformats.org/officeDocument/2006/relationships/hyperlink" Target="https://www.linkedin.com/in/devangibhalala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D6FBB9D-1CAA-4D05-AB33-BABDFE17B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727B71-B4B6-4823-80A1-68C40B4751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A6DB05-9FB5-4B07-8675-74C23D4FD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FC9BE17-9A7B-462D-AE50-3D8777387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1E2C2A-8133-654D-8C7C-CB8EE4589A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65" r="13784" b="-9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EBE8569-6AEC-4B8C-8D53-2DE337CD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1094" y="1161288"/>
            <a:ext cx="3438144" cy="1124712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800" b="1"/>
              <a:t>Weather Trend Forecasting and Climate Analysis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213" y="2718054"/>
            <a:ext cx="4997025" cy="320725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sz="2000"/>
              <a:t>PM Accelerator Data Scientist Internship </a:t>
            </a:r>
            <a:r>
              <a:rPr lang="en-US" sz="2000" dirty="0"/>
              <a:t>Technical Assessment</a:t>
            </a:r>
            <a:br>
              <a:rPr lang="en-US" sz="2000" dirty="0"/>
            </a:br>
            <a:endParaRPr lang="en-US" sz="1700"/>
          </a:p>
          <a:p>
            <a:r>
              <a:rPr lang="en-US" sz="1700" b="1" dirty="0"/>
              <a:t>     Devangi </a:t>
            </a:r>
            <a:r>
              <a:rPr lang="en-US" sz="1700" b="1" dirty="0" err="1"/>
              <a:t>Bhalala</a:t>
            </a:r>
          </a:p>
          <a:p>
            <a:r>
              <a:rPr lang="en-US" sz="1700"/>
              <a:t>     BCA Graduate</a:t>
            </a:r>
          </a:p>
          <a:p>
            <a:r>
              <a:rPr lang="en-US" sz="1700" dirty="0"/>
              <a:t>     Aspiring </a:t>
            </a:r>
            <a:r>
              <a:rPr lang="en-US" sz="1700"/>
              <a:t>AI/ML Engineer &amp; Data Scientist</a:t>
            </a:r>
            <a:endParaRPr lang="en-US"/>
          </a:p>
          <a:p>
            <a:r>
              <a:rPr lang="en-US" sz="1700"/>
              <a:t>     Rajkot, Gujarat, India </a:t>
            </a:r>
          </a:p>
          <a:p>
            <a:endParaRPr lang="en-US" sz="1700" dirty="0"/>
          </a:p>
          <a:p>
            <a:r>
              <a:rPr lang="en-US" sz="1700"/>
              <a:t>        May 2026</a:t>
            </a:r>
            <a:endParaRPr lang="en-US"/>
          </a:p>
          <a:p>
            <a:endParaRPr lang="en-US" sz="1700" dirty="0"/>
          </a:p>
        </p:txBody>
      </p:sp>
      <p:pic>
        <p:nvPicPr>
          <p:cNvPr id="5" name="Picture 4" descr="A blue circle with a white person in it&#10;&#10;AI-generated content may be incorrect.">
            <a:extLst>
              <a:ext uri="{FF2B5EF4-FFF2-40B4-BE49-F238E27FC236}">
                <a16:creationId xmlns:a16="http://schemas.microsoft.com/office/drawing/2014/main" id="{35982B9C-B123-77AF-0161-FCD4F9073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76" y="3661879"/>
            <a:ext cx="412482" cy="3995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F86B3B-8C95-4206-DCF0-70316E5B6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099" y="5444184"/>
            <a:ext cx="309159" cy="34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DF40726-9B19-4165-9C26-757D16E19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DDFF65-739C-214C-66AD-7592D0D5F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64211"/>
            <a:ext cx="4571999" cy="1165002"/>
          </a:xfrm>
        </p:spPr>
        <p:txBody>
          <a:bodyPr anchor="b">
            <a:normAutofit/>
          </a:bodyPr>
          <a:lstStyle/>
          <a:p>
            <a:r>
              <a:rPr lang="en-US" sz="3600" b="0">
                <a:ea typeface="+mj-lt"/>
                <a:cs typeface="+mj-lt"/>
              </a:rPr>
              <a:t>PM Accelerator Mission</a:t>
            </a:r>
            <a:endParaRPr lang="en-US" sz="3600" b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A5E66-DB77-F668-0289-DDEAF9097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55327"/>
            <a:ext cx="4571999" cy="3776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>
                <a:ea typeface="+mn-lt"/>
                <a:cs typeface="+mn-lt"/>
              </a:rPr>
              <a:t>PM Accelerator empowers future AI professionals through hands-on product development and real-world AI collaboration.</a:t>
            </a:r>
          </a:p>
          <a:p>
            <a:pPr marL="0" indent="0">
              <a:buNone/>
            </a:pPr>
            <a:endParaRPr lang="en-US" sz="1800"/>
          </a:p>
          <a:p>
            <a:pPr marL="0" indent="0">
              <a:buNone/>
            </a:pPr>
            <a:r>
              <a:rPr lang="en-US" sz="1800" dirty="0">
                <a:ea typeface="+mn-lt"/>
                <a:cs typeface="+mn-lt"/>
              </a:rPr>
              <a:t>This project was completed as part of </a:t>
            </a:r>
            <a:r>
              <a:rPr lang="en-US" sz="1800">
                <a:ea typeface="+mn-lt"/>
                <a:cs typeface="+mn-lt"/>
              </a:rPr>
              <a:t>the PM Accelerator Data Scientist </a:t>
            </a:r>
            <a:r>
              <a:rPr lang="en-US" sz="1800" dirty="0">
                <a:ea typeface="+mn-lt"/>
                <a:cs typeface="+mn-lt"/>
              </a:rPr>
              <a:t>Internship Technical Assessment program.</a:t>
            </a:r>
            <a:endParaRPr lang="en-US" sz="1800"/>
          </a:p>
        </p:txBody>
      </p:sp>
      <p:pic>
        <p:nvPicPr>
          <p:cNvPr id="5" name="Picture 4" descr="A person&amp;#39;s face with a circuit board&#10;&#10;AI-generated content may be incorrect.">
            <a:extLst>
              <a:ext uri="{FF2B5EF4-FFF2-40B4-BE49-F238E27FC236}">
                <a16:creationId xmlns:a16="http://schemas.microsoft.com/office/drawing/2014/main" id="{7AB5A7E0-2E2C-B7E6-3E15-3ADCFC04BD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848" r="2517" b="-1"/>
          <a:stretch>
            <a:fillRect/>
          </a:stretch>
        </p:blipFill>
        <p:spPr>
          <a:xfrm>
            <a:off x="6190488" y="566928"/>
            <a:ext cx="5157216" cy="528619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2089CB41-F399-4AEB-980C-5BFB1049C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FC967B-3DD6-463D-9DB9-6E4419AE0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096768" y="3817404"/>
            <a:ext cx="54864" cy="45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6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5DF40726-9B19-4165-9C26-757D16E19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2DBD67-6941-8D29-7CF7-FBE5350D7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4211"/>
            <a:ext cx="3882888" cy="2241006"/>
          </a:xfrm>
        </p:spPr>
        <p:txBody>
          <a:bodyPr anchor="t">
            <a:normAutofit/>
          </a:bodyPr>
          <a:lstStyle/>
          <a:p>
            <a:r>
              <a:rPr lang="en-US" sz="3400" b="0">
                <a:ea typeface="+mj-lt"/>
                <a:cs typeface="+mj-lt"/>
              </a:rPr>
              <a:t>Project Objectives</a:t>
            </a:r>
            <a:endParaRPr lang="en-US" sz="3400" b="0"/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F18B98EE-C9D5-603D-3DEF-77B9DAE1A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0520" y="727370"/>
            <a:ext cx="5887183" cy="515924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500">
                <a:ea typeface="+mn-lt"/>
                <a:cs typeface="+mn-lt"/>
              </a:rPr>
              <a:t>Analyze global weather trends and climate patterns</a:t>
            </a:r>
            <a:endParaRPr lang="en-US" sz="1500"/>
          </a:p>
          <a:p>
            <a:pPr>
              <a:lnSpc>
                <a:spcPct val="100000"/>
              </a:lnSpc>
            </a:pPr>
            <a:endParaRPr lang="en-US" sz="1500"/>
          </a:p>
          <a:p>
            <a:pPr>
              <a:lnSpc>
                <a:spcPct val="100000"/>
              </a:lnSpc>
            </a:pPr>
            <a:r>
              <a:rPr lang="en-US" sz="1500">
                <a:ea typeface="+mn-lt"/>
                <a:cs typeface="+mn-lt"/>
              </a:rPr>
              <a:t> Forecast temperature using machine learning models</a:t>
            </a:r>
            <a:endParaRPr lang="en-US" sz="1500"/>
          </a:p>
          <a:p>
            <a:pPr>
              <a:lnSpc>
                <a:spcPct val="100000"/>
              </a:lnSpc>
            </a:pPr>
            <a:endParaRPr lang="en-US" sz="1500"/>
          </a:p>
          <a:p>
            <a:pPr>
              <a:lnSpc>
                <a:spcPct val="100000"/>
              </a:lnSpc>
            </a:pPr>
            <a:r>
              <a:rPr lang="en-US" sz="1500">
                <a:ea typeface="+mn-lt"/>
                <a:cs typeface="+mn-lt"/>
              </a:rPr>
              <a:t>Compare forecasting model performance</a:t>
            </a:r>
            <a:endParaRPr lang="en-US" sz="1500"/>
          </a:p>
          <a:p>
            <a:pPr>
              <a:lnSpc>
                <a:spcPct val="100000"/>
              </a:lnSpc>
            </a:pPr>
            <a:endParaRPr lang="en-US" sz="1500"/>
          </a:p>
          <a:p>
            <a:pPr>
              <a:lnSpc>
                <a:spcPct val="100000"/>
              </a:lnSpc>
            </a:pPr>
            <a:r>
              <a:rPr lang="en-US" sz="1500">
                <a:ea typeface="+mn-lt"/>
                <a:cs typeface="+mn-lt"/>
              </a:rPr>
              <a:t> Detect anomalous weather conditions</a:t>
            </a:r>
            <a:endParaRPr lang="en-US" sz="1500"/>
          </a:p>
          <a:p>
            <a:pPr>
              <a:lnSpc>
                <a:spcPct val="100000"/>
              </a:lnSpc>
            </a:pPr>
            <a:endParaRPr lang="en-US" sz="1500"/>
          </a:p>
          <a:p>
            <a:pPr>
              <a:lnSpc>
                <a:spcPct val="100000"/>
              </a:lnSpc>
            </a:pPr>
            <a:r>
              <a:rPr lang="en-US" sz="1500">
                <a:ea typeface="+mn-lt"/>
                <a:cs typeface="+mn-lt"/>
              </a:rPr>
              <a:t>Study environmental impact using air quality indicators</a:t>
            </a:r>
            <a:endParaRPr lang="en-US" sz="1500"/>
          </a:p>
          <a:p>
            <a:pPr>
              <a:lnSpc>
                <a:spcPct val="100000"/>
              </a:lnSpc>
            </a:pPr>
            <a:endParaRPr lang="en-US" sz="1500"/>
          </a:p>
          <a:p>
            <a:pPr>
              <a:lnSpc>
                <a:spcPct val="100000"/>
              </a:lnSpc>
            </a:pPr>
            <a:r>
              <a:rPr lang="en-US" sz="1500">
                <a:ea typeface="+mn-lt"/>
                <a:cs typeface="+mn-lt"/>
              </a:rPr>
              <a:t>Visualize geographical weather patterns worldwide</a:t>
            </a:r>
          </a:p>
          <a:p>
            <a:pPr>
              <a:lnSpc>
                <a:spcPct val="100000"/>
              </a:lnSpc>
              <a:buNone/>
            </a:pPr>
            <a:r>
              <a:rPr lang="en-US" sz="1500">
                <a:ea typeface="+mn-lt"/>
                <a:cs typeface="+mn-lt"/>
              </a:rPr>
              <a:t>Tools &amp; Technologies:</a:t>
            </a:r>
            <a:endParaRPr lang="en-US" sz="1500"/>
          </a:p>
          <a:p>
            <a:pPr marL="0" indent="0">
              <a:lnSpc>
                <a:spcPct val="100000"/>
              </a:lnSpc>
              <a:buNone/>
            </a:pPr>
            <a:r>
              <a:rPr lang="en-US" sz="1500">
                <a:ea typeface="+mn-lt"/>
                <a:cs typeface="+mn-lt"/>
              </a:rPr>
              <a:t>Python • Pandas • Scikit-learn • XGBoost • Matplotlib • Seaborn</a:t>
            </a:r>
            <a:endParaRPr lang="en-US" sz="1500"/>
          </a:p>
        </p:txBody>
      </p:sp>
      <p:pic>
        <p:nvPicPr>
          <p:cNvPr id="4" name="Picture 3" descr="A set of icons of weather&#10;&#10;AI-generated content may be incorrect.">
            <a:extLst>
              <a:ext uri="{FF2B5EF4-FFF2-40B4-BE49-F238E27FC236}">
                <a16:creationId xmlns:a16="http://schemas.microsoft.com/office/drawing/2014/main" id="{B55AEBC3-DF48-ECC1-9486-98135AF522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31" r="19693" b="-2"/>
          <a:stretch>
            <a:fillRect/>
          </a:stretch>
        </p:blipFill>
        <p:spPr>
          <a:xfrm>
            <a:off x="838200" y="3064433"/>
            <a:ext cx="3882888" cy="2788692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2089CB41-F399-4AEB-980C-5BFB1049C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6112341"/>
            <a:ext cx="1050645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BFC967B-3DD6-463D-9DB9-6E4419AE0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753869" y="4160304"/>
            <a:ext cx="54864" cy="388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4087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5DF40726-9B19-4165-9C26-757D16E19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16DA30-66BC-530D-66B9-B8A11F2D1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4114800" cy="1865376"/>
          </a:xfrm>
        </p:spPr>
        <p:txBody>
          <a:bodyPr anchor="t">
            <a:normAutofit/>
          </a:bodyPr>
          <a:lstStyle/>
          <a:p>
            <a:r>
              <a:rPr lang="en-US" sz="3600" b="0">
                <a:ea typeface="+mj-lt"/>
                <a:cs typeface="+mj-lt"/>
              </a:rPr>
              <a:t>Dataset Overview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FFF0F-E630-801D-0149-FDD7148B4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0096" y="1078991"/>
            <a:ext cx="6007608" cy="50516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• Dataset: Global Weather Repository</a:t>
            </a:r>
            <a:endParaRPr lang="en-US" sz="1400"/>
          </a:p>
          <a:p>
            <a:pPr>
              <a:lnSpc>
                <a:spcPct val="100000"/>
              </a:lnSpc>
              <a:buNone/>
            </a:pPr>
            <a:endParaRPr lang="en-US" sz="1400"/>
          </a:p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• Source: Kaggle</a:t>
            </a:r>
            <a:endParaRPr lang="en-US" sz="1400"/>
          </a:p>
          <a:p>
            <a:pPr>
              <a:lnSpc>
                <a:spcPct val="100000"/>
              </a:lnSpc>
              <a:buNone/>
            </a:pPr>
            <a:endParaRPr lang="en-US" sz="1400"/>
          </a:p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• Records: 142,000+ weather observations</a:t>
            </a:r>
            <a:endParaRPr lang="en-US" sz="1400"/>
          </a:p>
          <a:p>
            <a:pPr>
              <a:lnSpc>
                <a:spcPct val="100000"/>
              </a:lnSpc>
              <a:buNone/>
            </a:pPr>
            <a:endParaRPr lang="en-US" sz="1400"/>
          </a:p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• Features: 40+ weather and environmental variables</a:t>
            </a:r>
            <a:endParaRPr lang="en-US" sz="1400"/>
          </a:p>
          <a:p>
            <a:pPr>
              <a:lnSpc>
                <a:spcPct val="100000"/>
              </a:lnSpc>
              <a:buNone/>
            </a:pPr>
            <a:endParaRPr lang="en-US" sz="1400"/>
          </a:p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• Coverage: Global city-level weather information</a:t>
            </a:r>
            <a:endParaRPr lang="en-US" sz="1400"/>
          </a:p>
          <a:p>
            <a:pPr>
              <a:lnSpc>
                <a:spcPct val="100000"/>
              </a:lnSpc>
              <a:buNone/>
            </a:pPr>
            <a:endParaRPr lang="en-US" sz="1400"/>
          </a:p>
          <a:p>
            <a:pPr marL="0" indent="0"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• Includes temperature, humidity, wind, precipitation, AQI, and atmospheric conditions</a:t>
            </a:r>
          </a:p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Dataset Size: ~46 MB</a:t>
            </a:r>
            <a:endParaRPr lang="en-US" sz="1400"/>
          </a:p>
          <a:p>
            <a:pPr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Rows: 142,873</a:t>
            </a:r>
            <a:endParaRPr lang="en-US" sz="1400"/>
          </a:p>
          <a:p>
            <a:pPr marL="0" indent="0">
              <a:lnSpc>
                <a:spcPct val="100000"/>
              </a:lnSpc>
              <a:buNone/>
            </a:pPr>
            <a:r>
              <a:rPr lang="en-US" sz="1400">
                <a:ea typeface="+mn-lt"/>
                <a:cs typeface="+mn-lt"/>
              </a:rPr>
              <a:t>Columns: 44</a:t>
            </a:r>
            <a:endParaRPr lang="en-US" sz="1400"/>
          </a:p>
          <a:p>
            <a:pPr marL="0" indent="0">
              <a:lnSpc>
                <a:spcPct val="100000"/>
              </a:lnSpc>
              <a:buNone/>
            </a:pPr>
            <a:endParaRPr lang="en-US" sz="140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3CEE90-136E-7A41-6667-4218052E4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658" r="34512" b="-2"/>
          <a:stretch>
            <a:fillRect/>
          </a:stretch>
        </p:blipFill>
        <p:spPr>
          <a:xfrm>
            <a:off x="612649" y="3224406"/>
            <a:ext cx="4114800" cy="2906223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21B3977D-00DD-E3F0-9E7E-2330CBFDF8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3202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903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728E3505-36F5-47A9-A188-7C60ACBB9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3135E1-7C30-ED61-D5C2-88EBA6B4E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2871216" cy="4526280"/>
          </a:xfrm>
        </p:spPr>
        <p:txBody>
          <a:bodyPr>
            <a:normAutofit/>
          </a:bodyPr>
          <a:lstStyle/>
          <a:p>
            <a:r>
              <a:rPr lang="en-US" sz="3000" b="0">
                <a:ea typeface="+mj-lt"/>
                <a:cs typeface="+mj-lt"/>
              </a:rPr>
              <a:t>Data Cleaning &amp; Preprocessing</a:t>
            </a:r>
            <a:endParaRPr lang="en-US" sz="30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97476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20393-EB2E-5BE8-B286-AC89495FF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1376" y="590205"/>
            <a:ext cx="3832168" cy="55695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Checked and verified missing values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Removed duplicate records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 dirty="0">
                <a:ea typeface="+mn-lt"/>
                <a:cs typeface="+mn-lt"/>
              </a:rPr>
              <a:t>• Converted </a:t>
            </a:r>
            <a:r>
              <a:rPr lang="en-US" sz="1300">
                <a:ea typeface="+mn-lt"/>
                <a:cs typeface="+mn-lt"/>
              </a:rPr>
              <a:t>last_updated</a:t>
            </a:r>
            <a:r>
              <a:rPr lang="en-US" sz="1300" dirty="0">
                <a:ea typeface="+mn-lt"/>
                <a:cs typeface="+mn-lt"/>
              </a:rPr>
              <a:t> into datetime format</a:t>
            </a:r>
            <a:endParaRPr lang="en-US" sz="1300" dirty="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Created time-series features: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  - Year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  - Month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  - Day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Selected important forecasting features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ea typeface="+mn-lt"/>
                <a:cs typeface="+mn-lt"/>
              </a:rPr>
              <a:t>• Applied feature scaling using </a:t>
            </a:r>
            <a:r>
              <a:rPr lang="en-US" sz="1300" dirty="0" err="1">
                <a:ea typeface="+mn-lt"/>
                <a:cs typeface="+mn-lt"/>
              </a:rPr>
              <a:t>StandardScale</a:t>
            </a:r>
            <a:endParaRPr lang="en-US" sz="1300">
              <a:ea typeface="+mn-lt"/>
              <a:cs typeface="+mn-lt"/>
            </a:endParaRPr>
          </a:p>
          <a:p>
            <a:pPr>
              <a:lnSpc>
                <a:spcPct val="100000"/>
              </a:lnSpc>
              <a:buNone/>
            </a:pPr>
            <a:r>
              <a:rPr lang="en-US" sz="1300" b="1">
                <a:ea typeface="+mn-lt"/>
                <a:cs typeface="+mn-lt"/>
              </a:rPr>
              <a:t>Missing Values Found: 0</a:t>
            </a:r>
            <a:endParaRPr lang="en-US" sz="1300" b="1"/>
          </a:p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ea typeface="+mn-lt"/>
                <a:cs typeface="+mn-lt"/>
              </a:rPr>
              <a:t>Duplicate Records Removed Successfully</a:t>
            </a:r>
          </a:p>
          <a:p>
            <a:pPr>
              <a:lnSpc>
                <a:spcPct val="100000"/>
              </a:lnSpc>
              <a:buNone/>
            </a:pPr>
            <a:endParaRPr lang="en-US" sz="1300"/>
          </a:p>
        </p:txBody>
      </p:sp>
      <p:pic>
        <p:nvPicPr>
          <p:cNvPr id="4" name="Picture 3" descr="A diagram of data cleaning cycle&#10;&#10;AI-generated content may be incorrect.">
            <a:extLst>
              <a:ext uri="{FF2B5EF4-FFF2-40B4-BE49-F238E27FC236}">
                <a16:creationId xmlns:a16="http://schemas.microsoft.com/office/drawing/2014/main" id="{363D486C-1334-D038-B2A7-1C117387BC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556" r="22553" b="-2"/>
          <a:stretch>
            <a:fillRect/>
          </a:stretch>
        </p:blipFill>
        <p:spPr>
          <a:xfrm>
            <a:off x="3701552" y="590205"/>
            <a:ext cx="3931920" cy="556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317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6C9F64E8-8F1D-4A06-B1A4-685E72C092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967E6F-436D-8A12-10D9-DD7014C1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8408"/>
            <a:ext cx="3721608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0"/>
              <a:t>Exploratory Data Analysis (EDA)</a:t>
            </a:r>
            <a:endParaRPr lang="en-US" sz="28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66744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31C4AB-0D2E-2C8D-F9E3-22C9A10072D4}"/>
              </a:ext>
            </a:extLst>
          </p:cNvPr>
          <p:cNvSpPr txBox="1"/>
          <p:nvPr/>
        </p:nvSpPr>
        <p:spPr>
          <a:xfrm>
            <a:off x="838200" y="2368296"/>
            <a:ext cx="3721608" cy="350215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Strong correlations exist between weather variables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Seasonal temperature variations are visible across months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Temperature and humidity show noticeable relationships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700"/>
              <a:t>Environmental variables influence weather conditions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EBC04957-77BA-983C-02F7-A10CD4DBEF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4" r="23777" b="-4"/>
          <a:stretch>
            <a:fillRect/>
          </a:stretch>
        </p:blipFill>
        <p:spPr>
          <a:xfrm>
            <a:off x="5171033" y="633618"/>
            <a:ext cx="2651760" cy="2679192"/>
          </a:xfrm>
          <a:prstGeom prst="rect">
            <a:avLst/>
          </a:prstGeom>
        </p:spPr>
      </p:pic>
      <p:pic>
        <p:nvPicPr>
          <p:cNvPr id="6" name="Picture 5" descr="A graph with a line&#10;&#10;AI-generated content may be incorrect.">
            <a:extLst>
              <a:ext uri="{FF2B5EF4-FFF2-40B4-BE49-F238E27FC236}">
                <a16:creationId xmlns:a16="http://schemas.microsoft.com/office/drawing/2014/main" id="{B8F3D581-FFB0-F4FD-9FF4-FDE3EB0689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12" r="25200"/>
          <a:stretch>
            <a:fillRect/>
          </a:stretch>
        </p:blipFill>
        <p:spPr>
          <a:xfrm>
            <a:off x="5171033" y="3450349"/>
            <a:ext cx="2651760" cy="2679192"/>
          </a:xfrm>
          <a:prstGeom prst="rect">
            <a:avLst/>
          </a:prstGeom>
        </p:spPr>
      </p:pic>
      <p:pic>
        <p:nvPicPr>
          <p:cNvPr id="4" name="Content Placeholder 3" descr="A graph of a temperature distribution&#10;&#10;AI-generated content may be incorrect.">
            <a:extLst>
              <a:ext uri="{FF2B5EF4-FFF2-40B4-BE49-F238E27FC236}">
                <a16:creationId xmlns:a16="http://schemas.microsoft.com/office/drawing/2014/main" id="{B76D7A5F-D155-38AA-FE21-DF2C0F07A6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4932" r="40667" b="1"/>
          <a:stretch>
            <a:fillRect/>
          </a:stretch>
        </p:blipFill>
        <p:spPr>
          <a:xfrm>
            <a:off x="8001000" y="633616"/>
            <a:ext cx="3781427" cy="5495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25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385E1BDC-A9B0-4A87-82E3-F3187F69A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990C621-3B8B-4820-8328-D47EF7CE8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9D597C-0FA1-B2E7-D5C8-F7D78116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560" y="586822"/>
            <a:ext cx="3538728" cy="1645920"/>
          </a:xfrm>
        </p:spPr>
        <p:txBody>
          <a:bodyPr>
            <a:normAutofit/>
          </a:bodyPr>
          <a:lstStyle/>
          <a:p>
            <a:r>
              <a:rPr lang="en-US" sz="3200" b="0">
                <a:ea typeface="+mj-lt"/>
                <a:cs typeface="+mj-lt"/>
              </a:rPr>
              <a:t>Forecasting Models &amp; Performance</a:t>
            </a:r>
            <a:endParaRPr lang="en-US" sz="320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A2385B-1D2A-4E17-84FA-6CB7F0AAE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E791F2F-79DB-4CC0-9FA1-001E3E91E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8113" y="1405210"/>
            <a:ext cx="146304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7322-1D40-FA21-B2A3-77C6762FB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9240" y="586822"/>
            <a:ext cx="6007608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00">
                <a:ea typeface="+mn-lt"/>
                <a:cs typeface="+mn-lt"/>
              </a:rPr>
              <a:t>Implemented Models:</a:t>
            </a:r>
            <a:endParaRPr lang="en-US" sz="1000"/>
          </a:p>
          <a:p>
            <a:pPr>
              <a:lnSpc>
                <a:spcPct val="100000"/>
              </a:lnSpc>
              <a:buNone/>
            </a:pPr>
            <a:r>
              <a:rPr lang="en-US" sz="1000">
                <a:ea typeface="+mn-lt"/>
                <a:cs typeface="+mn-lt"/>
              </a:rPr>
              <a:t>• Linear Regression</a:t>
            </a:r>
            <a:endParaRPr lang="en-US" sz="1000"/>
          </a:p>
          <a:p>
            <a:pPr>
              <a:lnSpc>
                <a:spcPct val="100000"/>
              </a:lnSpc>
              <a:buNone/>
            </a:pPr>
            <a:r>
              <a:rPr lang="en-US" sz="1000">
                <a:ea typeface="+mn-lt"/>
                <a:cs typeface="+mn-lt"/>
              </a:rPr>
              <a:t>• Random Forest Regressor</a:t>
            </a:r>
            <a:endParaRPr lang="en-US" sz="1000"/>
          </a:p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ea typeface="+mn-lt"/>
                <a:cs typeface="+mn-lt"/>
              </a:rPr>
              <a:t>• </a:t>
            </a:r>
            <a:r>
              <a:rPr lang="en-US" sz="1000" dirty="0" err="1">
                <a:ea typeface="+mn-lt"/>
                <a:cs typeface="+mn-lt"/>
              </a:rPr>
              <a:t>XGBoost</a:t>
            </a:r>
            <a:r>
              <a:rPr lang="en-US" sz="1000" dirty="0">
                <a:ea typeface="+mn-lt"/>
                <a:cs typeface="+mn-lt"/>
              </a:rPr>
              <a:t> Regressor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>
                <a:ea typeface="+mn-lt"/>
                <a:cs typeface="+mn-lt"/>
              </a:rPr>
              <a:t>Best Model: Random Forest Regressor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000">
                <a:ea typeface="+mn-lt"/>
                <a:cs typeface="+mn-lt"/>
              </a:rPr>
              <a:t>R² Score: 0.9969</a:t>
            </a:r>
            <a:endParaRPr lang="en-US" sz="100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22042C-D8A0-46DC-1E60-47F11E300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3" y="3100951"/>
            <a:ext cx="5481509" cy="2740755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F19A69-94FA-B850-A13F-59BAF1C10A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43430"/>
              </p:ext>
            </p:extLst>
          </p:nvPr>
        </p:nvGraphicFramePr>
        <p:xfrm>
          <a:off x="6198781" y="2988581"/>
          <a:ext cx="5523084" cy="2965496"/>
        </p:xfrm>
        <a:graphic>
          <a:graphicData uri="http://schemas.openxmlformats.org/drawingml/2006/table">
            <a:tbl>
              <a:tblPr firstRow="1" bandRow="1">
                <a:noFill/>
                <a:tableStyleId>{073A0DAA-6AF3-43AB-8588-CEC1D06C72B9}</a:tableStyleId>
              </a:tblPr>
              <a:tblGrid>
                <a:gridCol w="1710810">
                  <a:extLst>
                    <a:ext uri="{9D8B030D-6E8A-4147-A177-3AD203B41FA5}">
                      <a16:colId xmlns:a16="http://schemas.microsoft.com/office/drawing/2014/main" val="43542254"/>
                    </a:ext>
                  </a:extLst>
                </a:gridCol>
                <a:gridCol w="1140308">
                  <a:extLst>
                    <a:ext uri="{9D8B030D-6E8A-4147-A177-3AD203B41FA5}">
                      <a16:colId xmlns:a16="http://schemas.microsoft.com/office/drawing/2014/main" val="2212440522"/>
                    </a:ext>
                  </a:extLst>
                </a:gridCol>
                <a:gridCol w="1180313">
                  <a:extLst>
                    <a:ext uri="{9D8B030D-6E8A-4147-A177-3AD203B41FA5}">
                      <a16:colId xmlns:a16="http://schemas.microsoft.com/office/drawing/2014/main" val="798646178"/>
                    </a:ext>
                  </a:extLst>
                </a:gridCol>
                <a:gridCol w="1491653">
                  <a:extLst>
                    <a:ext uri="{9D8B030D-6E8A-4147-A177-3AD203B41FA5}">
                      <a16:colId xmlns:a16="http://schemas.microsoft.com/office/drawing/2014/main" val="4030376298"/>
                    </a:ext>
                  </a:extLst>
                </a:gridCol>
              </a:tblGrid>
              <a:tr h="607793"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rgbClr val="FFFFFF"/>
                          </a:solidFill>
                        </a:rPr>
                        <a:t>Model </a:t>
                      </a:r>
                    </a:p>
                  </a:txBody>
                  <a:tcPr marL="250464" marR="150278" marT="150278" marB="150278" anchor="ctr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 marL="250464" marR="150278" marT="150278" marB="150278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cap="none" spc="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 marL="250464" marR="150278" marT="150278" marB="150278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cap="none" spc="0" noProof="0">
                          <a:solidFill>
                            <a:srgbClr val="FFFFFF"/>
                          </a:solidFill>
                          <a:latin typeface="Neue Haas Grotesk Text Pro"/>
                        </a:rPr>
                        <a:t>R² Score</a:t>
                      </a:r>
                      <a:endParaRPr lang="en-US" sz="1800" b="1" cap="none" spc="0">
                        <a:solidFill>
                          <a:srgbClr val="FFFFFF"/>
                        </a:solidFill>
                      </a:endParaRPr>
                    </a:p>
                  </a:txBody>
                  <a:tcPr marL="250464" marR="150278" marT="150278" marB="150278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636B68">
                        <a:alpha val="6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807198"/>
                  </a:ext>
                </a:extLst>
              </a:tr>
              <a:tr h="87495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Linear Regression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~1.10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~1.70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~0.978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4965514"/>
                  </a:ext>
                </a:extLst>
              </a:tr>
              <a:tr h="87495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Random Forest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cap="none" spc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</a:rPr>
                        <a:t>0.281</a:t>
                      </a:r>
                    </a:p>
                    <a:p>
                      <a:pPr lvl="0">
                        <a:buNone/>
                      </a:pP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0.531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0.997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222334"/>
                  </a:ext>
                </a:extLst>
              </a:tr>
              <a:tr h="60779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XGBoost</a:t>
                      </a:r>
                      <a:endParaRPr lang="en-US" sz="1800" cap="none" spc="0" dirty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0.295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0.552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cap="none" spc="0" noProof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Neue Haas Grotesk Text Pro"/>
                        </a:rPr>
                        <a:t>0.997</a:t>
                      </a:r>
                      <a:endParaRPr lang="en-US" sz="1800" cap="none" spc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</a:endParaRPr>
                    </a:p>
                  </a:txBody>
                  <a:tcPr marL="250464" marR="150278" marT="150278" marB="150278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1490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843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801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6FF42C2-EA15-4154-B242-E98E88CED9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D79DE9F7-28C4-4856-BA57-D696E124C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E7D91B-60A1-647E-346F-12EFE014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978408"/>
            <a:ext cx="4056530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0"/>
              <a:t>Advanced Analysis</a:t>
            </a:r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1F9ED9C-121B-44C6-A308-5824769C4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A5F8185-F27B-4E99-A06C-007336FE3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6B2F38-D521-7344-C9FA-08C4C2FB589C}"/>
              </a:ext>
            </a:extLst>
          </p:cNvPr>
          <p:cNvSpPr txBox="1"/>
          <p:nvPr/>
        </p:nvSpPr>
        <p:spPr>
          <a:xfrm>
            <a:off x="838199" y="2359152"/>
            <a:ext cx="4056530" cy="3429000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1700" b="1"/>
              <a:t>Key Findings: </a:t>
            </a:r>
            <a:br>
              <a:rPr lang="en-US" sz="1700" dirty="0"/>
            </a:br>
            <a:r>
              <a:rPr lang="en-US" sz="1700"/>
              <a:t> • Isolation Forest detected </a:t>
            </a:r>
            <a:br>
              <a:rPr lang="en-US" sz="1700" dirty="0"/>
            </a:br>
            <a:r>
              <a:rPr lang="en-US" sz="1700"/>
              <a:t> unusual weather patterns </a:t>
            </a:r>
            <a:br>
              <a:rPr lang="en-US" sz="1700" dirty="0"/>
            </a:br>
            <a:r>
              <a:rPr lang="en-US" sz="1700"/>
              <a:t> • Feels-like temperature was </a:t>
            </a:r>
            <a:br>
              <a:rPr lang="en-US" sz="1700" dirty="0"/>
            </a:br>
            <a:r>
              <a:rPr lang="en-US" sz="1700"/>
              <a:t> the strongest predictor </a:t>
            </a:r>
            <a:br>
              <a:rPr lang="en-US" sz="1700" dirty="0"/>
            </a:br>
            <a:r>
              <a:rPr lang="en-US" sz="1700"/>
              <a:t> • Spatial analysis revealed </a:t>
            </a:r>
            <a:br>
              <a:rPr lang="en-US" sz="1700" dirty="0"/>
            </a:br>
            <a:r>
              <a:rPr lang="en-US" sz="1700"/>
              <a:t> global temperature trends</a:t>
            </a:r>
            <a:endParaRPr lang="en-US"/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/>
          </a:p>
        </p:txBody>
      </p:sp>
      <p:pic>
        <p:nvPicPr>
          <p:cNvPr id="4" name="Content Placeholder 3" descr="A graph with a blue bar&#10;&#10;AI-generated content may be incorrect.">
            <a:extLst>
              <a:ext uri="{FF2B5EF4-FFF2-40B4-BE49-F238E27FC236}">
                <a16:creationId xmlns:a16="http://schemas.microsoft.com/office/drawing/2014/main" id="{34E05E13-16AC-B274-F42A-C221E1DC5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6705" y="874284"/>
            <a:ext cx="2873668" cy="1724200"/>
          </a:xfrm>
          <a:prstGeom prst="rect">
            <a:avLst/>
          </a:prstGeom>
        </p:spPr>
      </p:pic>
      <p:pic>
        <p:nvPicPr>
          <p:cNvPr id="6" name="Picture 5" descr="A diagram of a global temperature distribution&#10;&#10;AI-generated content may be incorrect.">
            <a:extLst>
              <a:ext uri="{FF2B5EF4-FFF2-40B4-BE49-F238E27FC236}">
                <a16:creationId xmlns:a16="http://schemas.microsoft.com/office/drawing/2014/main" id="{6587B285-9F8A-DC70-F79A-5E8091ECC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365" y="1016009"/>
            <a:ext cx="2873668" cy="14368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C21830-757B-5FA5-834C-A9BB50B82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6705" y="3140762"/>
            <a:ext cx="5989328" cy="299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761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1640B3DF-3C1C-49A7-8FA7-EE4A21CB0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FF79527-C7F1-4E06-8126-A8E8C5FEB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10" y="384048"/>
            <a:ext cx="3740740" cy="5833872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131EC6-EA38-0C5E-3E2F-1AEA8800E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919128"/>
            <a:ext cx="3103427" cy="4311239"/>
          </a:xfrm>
        </p:spPr>
        <p:txBody>
          <a:bodyPr anchor="t">
            <a:normAutofit/>
          </a:bodyPr>
          <a:lstStyle/>
          <a:p>
            <a:r>
              <a:rPr lang="en-US" sz="3200" b="0">
                <a:ea typeface="+mj-lt"/>
                <a:cs typeface="+mj-lt"/>
              </a:rPr>
              <a:t>Key Insights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BD33D-FB6F-0E72-3FA5-C368018EA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2222" y="919128"/>
            <a:ext cx="6730944" cy="5298790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Random Forest achieved the best forecasting performance with an R² score of approximately 0.997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Weather variables such as humidity and feels_like_celsius showed strong predictive relationships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Environmental indicators such as PM2.5 demonstrated correlations with temperature patterns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Isolation Forest successfully identified anomalous weather observations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Spatial analysis revealed noticeable geographical variations in global weather conditions</a:t>
            </a:r>
            <a:endParaRPr lang="en-US" sz="1300"/>
          </a:p>
          <a:p>
            <a:pPr>
              <a:lnSpc>
                <a:spcPct val="100000"/>
              </a:lnSpc>
              <a:buNone/>
            </a:pPr>
            <a:endParaRPr lang="en-US" sz="1300"/>
          </a:p>
          <a:p>
            <a:pPr marL="0" indent="0"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• Machine learning models proved highly effective for weather trend forecasting</a:t>
            </a:r>
          </a:p>
          <a:p>
            <a:pPr>
              <a:lnSpc>
                <a:spcPct val="100000"/>
              </a:lnSpc>
              <a:buNone/>
            </a:pPr>
            <a:r>
              <a:rPr lang="en-US" sz="1300" b="1">
                <a:ea typeface="+mn-lt"/>
                <a:cs typeface="+mn-lt"/>
              </a:rPr>
              <a:t>Project Outcome:</a:t>
            </a:r>
            <a:endParaRPr lang="en-US" sz="1300" b="1"/>
          </a:p>
          <a:p>
            <a:pPr marL="0" indent="0">
              <a:lnSpc>
                <a:spcPct val="100000"/>
              </a:lnSpc>
              <a:buNone/>
            </a:pPr>
            <a:r>
              <a:rPr lang="en-US" sz="1300">
                <a:ea typeface="+mn-lt"/>
                <a:cs typeface="+mn-lt"/>
              </a:rPr>
              <a:t>Successfully developed a machine learning-based weather forecasting and climate analysis system using global weather data.</a:t>
            </a:r>
            <a:endParaRPr lang="en-US" sz="13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FA739B-A75D-DA77-F75D-36ED592E9A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889233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933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62891-C052-D1EA-D6D2-A91E4A90F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895441"/>
          </a:xfrm>
        </p:spPr>
        <p:txBody>
          <a:bodyPr/>
          <a:lstStyle/>
          <a:p>
            <a:r>
              <a:rPr lang="en-US" b="0">
                <a:ea typeface="+mj-lt"/>
                <a:cs typeface="+mj-lt"/>
              </a:rPr>
              <a:t>Conclusion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CCB5B-CE0B-717F-3814-E4BF07FDE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56537"/>
            <a:ext cx="10168128" cy="4427453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dirty="0">
                <a:ea typeface="+mn-lt"/>
                <a:cs typeface="+mn-lt"/>
              </a:rPr>
              <a:t>This project demonstrated the successful application of machine learning and data science techniques for weather forecasting, climate analysis, anomaly detection, and environmental impact analysis using global weather data.</a:t>
            </a:r>
          </a:p>
          <a:p>
            <a:pPr>
              <a:buNone/>
            </a:pPr>
            <a:r>
              <a:rPr lang="en-US" b="1">
                <a:ea typeface="+mn-lt"/>
                <a:cs typeface="+mn-lt"/>
              </a:rPr>
              <a:t>Key Achievements:</a:t>
            </a:r>
            <a:endParaRPr lang="en-US" b="1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• Built multiple forecasting models</a:t>
            </a: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• Achieved high prediction accuracy</a:t>
            </a:r>
            <a:endParaRPr lang="en-US"/>
          </a:p>
          <a:p>
            <a:pPr>
              <a:buNone/>
            </a:pPr>
            <a:r>
              <a:rPr lang="en-US">
                <a:ea typeface="+mn-lt"/>
                <a:cs typeface="+mn-lt"/>
              </a:rPr>
              <a:t>• Performed advanced climate analysis                       </a:t>
            </a:r>
            <a:endParaRPr lang="en-US"/>
          </a:p>
          <a:p>
            <a:pPr marL="0" indent="0">
              <a:buNone/>
            </a:pPr>
            <a:r>
              <a:rPr lang="en-US">
                <a:ea typeface="+mn-lt"/>
                <a:cs typeface="+mn-lt"/>
              </a:rPr>
              <a:t>• Developed professional data science workflow       </a:t>
            </a:r>
          </a:p>
          <a:p>
            <a:pPr marL="0" indent="0" algn="ctr">
              <a:buNone/>
            </a:pPr>
            <a:r>
              <a:rPr lang="en-US" sz="2800" b="1">
                <a:ea typeface="+mn-lt"/>
                <a:cs typeface="+mn-lt"/>
              </a:rPr>
              <a:t>Thank You          </a:t>
            </a:r>
          </a:p>
          <a:p>
            <a:pPr marL="0" indent="0" algn="ctr">
              <a:buNone/>
            </a:pPr>
            <a:r>
              <a:rPr lang="en-US">
                <a:ea typeface="+mn-lt"/>
                <a:cs typeface="+mn-lt"/>
              </a:rPr>
              <a:t>Questions &amp; Discussion </a:t>
            </a:r>
          </a:p>
          <a:p>
            <a:pPr marL="0" indent="0" algn="r">
              <a:buNone/>
            </a:pPr>
            <a:r>
              <a:rPr lang="en-US" dirty="0">
                <a:hlinkClick r:id="rId2"/>
              </a:rPr>
              <a:t>linkedin.com/in/</a:t>
            </a:r>
            <a:r>
              <a:rPr lang="en-US" dirty="0" err="1">
                <a:hlinkClick r:id="rId2"/>
              </a:rPr>
              <a:t>devangibhalala</a:t>
            </a:r>
            <a:endParaRPr lang="en-US" dirty="0">
              <a:hlinkClick r:id="rId2"/>
            </a:endParaRPr>
          </a:p>
          <a:p>
            <a:pPr algn="r">
              <a:buNone/>
            </a:pPr>
            <a:r>
              <a:rPr lang="en-US" dirty="0"/>
              <a:t>                                                                                                                   </a:t>
            </a:r>
            <a:r>
              <a:rPr lang="en-US" dirty="0">
                <a:hlinkClick r:id="rId3"/>
              </a:rPr>
              <a:t>g</a:t>
            </a:r>
            <a:r>
              <a:rPr lang="en-US" dirty="0">
                <a:hlinkClick r:id="rId3"/>
              </a:rPr>
              <a:t>ithub.com/</a:t>
            </a:r>
            <a:r>
              <a:rPr lang="en-US" dirty="0" err="1">
                <a:hlinkClick r:id="rId3"/>
              </a:rPr>
              <a:t>DevangiBhalala</a:t>
            </a:r>
            <a:endParaRPr lang="en-US" dirty="0" err="1">
              <a:hlinkClick r:id="rId3"/>
            </a:endParaRP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578051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AccentBoxVTI</vt:lpstr>
      <vt:lpstr>Weather Trend Forecasting and Climate Analysis</vt:lpstr>
      <vt:lpstr>PM Accelerator Mission</vt:lpstr>
      <vt:lpstr>Project Objectives</vt:lpstr>
      <vt:lpstr>Dataset Overview</vt:lpstr>
      <vt:lpstr>Data Cleaning &amp; Preprocessing</vt:lpstr>
      <vt:lpstr>Exploratory Data Analysis (EDA)</vt:lpstr>
      <vt:lpstr>Forecasting Models &amp; Performance</vt:lpstr>
      <vt:lpstr>Advanced Analysis</vt:lpstr>
      <vt:lpstr>Key Insights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594</cp:revision>
  <dcterms:created xsi:type="dcterms:W3CDTF">2026-05-24T04:00:54Z</dcterms:created>
  <dcterms:modified xsi:type="dcterms:W3CDTF">2026-05-25T05:27:19Z</dcterms:modified>
</cp:coreProperties>
</file>