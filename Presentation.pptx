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6B7E2-C8FC-4A9A-A0FE-89B32FE3D68C}" v="214" dt="2026-05-24T05:03:44.983"/>
    <p1510:client id="{3CC00AD0-44A6-43E7-87CC-8CE6784F3D6C}" v="78" dt="2026-05-24T08:09:46.081"/>
    <p1510:client id="{DA7206B4-9F15-4EB8-84E7-F5CA43878B26}" v="188" dt="2026-05-24T07:44:10.446"/>
    <p1510:client id="{DACD8A3B-5BC4-491A-B2CE-13C5EBE5089B}" v="344" dt="2026-05-24T06:26:57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49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5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7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9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5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3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01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0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2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1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0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angiBhalala" TargetMode="External"/><Relationship Id="rId2" Type="http://schemas.openxmlformats.org/officeDocument/2006/relationships/hyperlink" Target="https://www.linkedin.com/in/devangibhalal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1E2C2A-8133-654D-8C7C-CB8EE458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5" r="13784" b="-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/>
              <a:t>Weather Trend Forecasting and Climate Analysis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213" y="2718054"/>
            <a:ext cx="4997025" cy="320725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/>
              <a:t>PM Accelerator Data Scientist Internship </a:t>
            </a:r>
            <a:r>
              <a:rPr lang="en-US" sz="2000" dirty="0"/>
              <a:t>Technical Assessment</a:t>
            </a:r>
            <a:br>
              <a:rPr lang="en-US" sz="2000" dirty="0"/>
            </a:br>
            <a:endParaRPr lang="en-US" sz="1700"/>
          </a:p>
          <a:p>
            <a:r>
              <a:rPr lang="en-US" sz="1700" b="1" dirty="0"/>
              <a:t>     Devangi </a:t>
            </a:r>
            <a:r>
              <a:rPr lang="en-US" sz="1700" b="1" dirty="0" err="1"/>
              <a:t>Bhalala</a:t>
            </a:r>
          </a:p>
          <a:p>
            <a:r>
              <a:rPr lang="en-US" sz="1700"/>
              <a:t>     BCA Graduate</a:t>
            </a:r>
          </a:p>
          <a:p>
            <a:r>
              <a:rPr lang="en-US" sz="1700" dirty="0"/>
              <a:t>     Aspiring </a:t>
            </a:r>
            <a:r>
              <a:rPr lang="en-US" sz="1700"/>
              <a:t>AI/ML Engineer &amp; Data Scientist</a:t>
            </a:r>
            <a:endParaRPr lang="en-US"/>
          </a:p>
          <a:p>
            <a:r>
              <a:rPr lang="en-US" sz="1700"/>
              <a:t>     Rajkot, Gujarat, India </a:t>
            </a:r>
          </a:p>
          <a:p>
            <a:endParaRPr lang="en-US" sz="1700" dirty="0"/>
          </a:p>
          <a:p>
            <a:r>
              <a:rPr lang="en-US" sz="1700"/>
              <a:t>        May 2026</a:t>
            </a:r>
            <a:endParaRPr lang="en-US"/>
          </a:p>
          <a:p>
            <a:endParaRPr lang="en-US" sz="1700" dirty="0"/>
          </a:p>
        </p:txBody>
      </p:sp>
      <p:pic>
        <p:nvPicPr>
          <p:cNvPr id="5" name="Picture 4" descr="A blue circle with a white person in it&#10;&#10;AI-generated content may be incorrect.">
            <a:extLst>
              <a:ext uri="{FF2B5EF4-FFF2-40B4-BE49-F238E27FC236}">
                <a16:creationId xmlns:a16="http://schemas.microsoft.com/office/drawing/2014/main" id="{35982B9C-B123-77AF-0161-FCD4F9073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" y="3661879"/>
            <a:ext cx="412482" cy="3995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F86B3B-8C95-4206-DCF0-70316E5B6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99" y="5444184"/>
            <a:ext cx="309159" cy="3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DFF65-739C-214C-66AD-7592D0D5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4211"/>
            <a:ext cx="4571999" cy="1165002"/>
          </a:xfrm>
        </p:spPr>
        <p:txBody>
          <a:bodyPr anchor="b">
            <a:normAutofit/>
          </a:bodyPr>
          <a:lstStyle/>
          <a:p>
            <a:r>
              <a:rPr lang="en-US" sz="3600" b="0">
                <a:ea typeface="+mj-lt"/>
                <a:cs typeface="+mj-lt"/>
              </a:rPr>
              <a:t>PM Accelerator Mission</a:t>
            </a:r>
            <a:endParaRPr lang="en-US" sz="3600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5E66-DB77-F668-0289-DDEAF909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55327"/>
            <a:ext cx="4571999" cy="377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PM Accelerator empowers future AI professionals through hands-on product development and real-world AI collaboration.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This project was completed as part of </a:t>
            </a:r>
            <a:r>
              <a:rPr lang="en-US" sz="1800">
                <a:ea typeface="+mn-lt"/>
                <a:cs typeface="+mn-lt"/>
              </a:rPr>
              <a:t>the PM Accelerator Data Scientist </a:t>
            </a:r>
            <a:r>
              <a:rPr lang="en-US" sz="1800" dirty="0">
                <a:ea typeface="+mn-lt"/>
                <a:cs typeface="+mn-lt"/>
              </a:rPr>
              <a:t>Internship Technical Assessment program.</a:t>
            </a:r>
            <a:endParaRPr lang="en-US" sz="1800"/>
          </a:p>
        </p:txBody>
      </p:sp>
      <p:pic>
        <p:nvPicPr>
          <p:cNvPr id="5" name="Picture 4" descr="A person&amp;#39;s face with a circuit board&#10;&#10;AI-generated content may be incorrect.">
            <a:extLst>
              <a:ext uri="{FF2B5EF4-FFF2-40B4-BE49-F238E27FC236}">
                <a16:creationId xmlns:a16="http://schemas.microsoft.com/office/drawing/2014/main" id="{7AB5A7E0-2E2C-B7E6-3E15-3ADCFC04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48" r="2517" b="-1"/>
          <a:stretch>
            <a:fillRect/>
          </a:stretch>
        </p:blipFill>
        <p:spPr>
          <a:xfrm>
            <a:off x="6190488" y="566928"/>
            <a:ext cx="5157216" cy="52861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089CB41-F399-4AEB-980C-5BFB1049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C967B-3DD6-463D-9DB9-6E4419AE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6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DBD67-6941-8D29-7CF7-FBE5350D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211"/>
            <a:ext cx="3882888" cy="2241006"/>
          </a:xfrm>
        </p:spPr>
        <p:txBody>
          <a:bodyPr anchor="t">
            <a:normAutofit/>
          </a:bodyPr>
          <a:lstStyle/>
          <a:p>
            <a:r>
              <a:rPr lang="en-US" sz="3400" b="0">
                <a:ea typeface="+mj-lt"/>
                <a:cs typeface="+mj-lt"/>
              </a:rPr>
              <a:t>Project Objectives</a:t>
            </a:r>
            <a:endParaRPr lang="en-US" sz="3400" b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18B98EE-C9D5-603D-3DEF-77B9DAE1A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520" y="727370"/>
            <a:ext cx="5887183" cy="515924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Analyze global weather trends and climate patterns</a:t>
            </a:r>
            <a:endParaRPr lang="en-US" sz="1500"/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 Forecast temperature using machine learning models</a:t>
            </a:r>
            <a:endParaRPr lang="en-US" sz="1500"/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Compare forecasting model performance</a:t>
            </a:r>
            <a:endParaRPr lang="en-US" sz="1500"/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 Detect anomalous weather conditions</a:t>
            </a:r>
            <a:endParaRPr lang="en-US" sz="1500"/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Study environmental impact using air quality indicators</a:t>
            </a:r>
            <a:endParaRPr lang="en-US" sz="1500"/>
          </a:p>
          <a:p>
            <a:pPr>
              <a:lnSpc>
                <a:spcPct val="100000"/>
              </a:lnSpc>
            </a:pPr>
            <a:endParaRPr lang="en-US" sz="1500"/>
          </a:p>
          <a:p>
            <a:pPr>
              <a:lnSpc>
                <a:spcPct val="100000"/>
              </a:lnSpc>
            </a:pPr>
            <a:r>
              <a:rPr lang="en-US" sz="1500">
                <a:ea typeface="+mn-lt"/>
                <a:cs typeface="+mn-lt"/>
              </a:rPr>
              <a:t>Visualize geographical weather patterns worldwide</a:t>
            </a:r>
          </a:p>
          <a:p>
            <a:pPr>
              <a:lnSpc>
                <a:spcPct val="100000"/>
              </a:lnSpc>
              <a:buNone/>
            </a:pPr>
            <a:r>
              <a:rPr lang="en-US" sz="1500">
                <a:ea typeface="+mn-lt"/>
                <a:cs typeface="+mn-lt"/>
              </a:rPr>
              <a:t>Tools &amp; Technologies:</a:t>
            </a:r>
            <a:endParaRPr lang="en-US" sz="1500"/>
          </a:p>
          <a:p>
            <a:pPr marL="0" indent="0">
              <a:lnSpc>
                <a:spcPct val="100000"/>
              </a:lnSpc>
              <a:buNone/>
            </a:pPr>
            <a:r>
              <a:rPr lang="en-US" sz="1500">
                <a:ea typeface="+mn-lt"/>
                <a:cs typeface="+mn-lt"/>
              </a:rPr>
              <a:t>Python • Pandas • Scikit-learn • XGBoost • Matplotlib • Seaborn</a:t>
            </a:r>
            <a:endParaRPr lang="en-US" sz="1500"/>
          </a:p>
        </p:txBody>
      </p:sp>
      <p:pic>
        <p:nvPicPr>
          <p:cNvPr id="4" name="Picture 3" descr="A set of icons of weather&#10;&#10;AI-generated content may be incorrect.">
            <a:extLst>
              <a:ext uri="{FF2B5EF4-FFF2-40B4-BE49-F238E27FC236}">
                <a16:creationId xmlns:a16="http://schemas.microsoft.com/office/drawing/2014/main" id="{B55AEBC3-DF48-ECC1-9486-98135AF52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1" r="19693" b="-2"/>
          <a:stretch>
            <a:fillRect/>
          </a:stretch>
        </p:blipFill>
        <p:spPr>
          <a:xfrm>
            <a:off x="838200" y="3064433"/>
            <a:ext cx="3882888" cy="278869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089CB41-F399-4AEB-980C-5BFB1049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FC967B-3DD6-463D-9DB9-6E4419AE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53869" y="4160304"/>
            <a:ext cx="54864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08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6DA30-66BC-530D-66B9-B8A11F2D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4114800" cy="1865376"/>
          </a:xfrm>
        </p:spPr>
        <p:txBody>
          <a:bodyPr anchor="t">
            <a:normAutofit/>
          </a:bodyPr>
          <a:lstStyle/>
          <a:p>
            <a:r>
              <a:rPr lang="en-US" sz="3600" b="0">
                <a:ea typeface="+mj-lt"/>
                <a:cs typeface="+mj-lt"/>
              </a:rPr>
              <a:t>Dataset Overview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FF0F-E630-801D-0149-FDD7148B4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1078991"/>
            <a:ext cx="6007608" cy="5051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Dataset: Global Weather Repository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Source: Kaggle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Records: 142,000+ weather observations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Features: 40+ weather and environmental variables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Coverage: Global city-level weather information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• Includes temperature, humidity, wind, precipitation, AQI, and atmospheric conditions</a:t>
            </a:r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Dataset Size: ~46 MB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Rows: 142,873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>
                <a:ea typeface="+mn-lt"/>
                <a:cs typeface="+mn-lt"/>
              </a:rPr>
              <a:t>Columns: 44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endParaRPr lang="en-US" sz="1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3CEE90-136E-7A41-6667-4218052E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8" r="34512" b="-2"/>
          <a:stretch>
            <a:fillRect/>
          </a:stretch>
        </p:blipFill>
        <p:spPr>
          <a:xfrm>
            <a:off x="612649" y="3224406"/>
            <a:ext cx="4114800" cy="29062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1B3977D-00DD-E3F0-9E7E-2330CBFDF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0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28E3505-36F5-47A9-A188-7C60ACBB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135E1-7C30-ED61-D5C2-88EBA6B4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871216" cy="4526280"/>
          </a:xfrm>
        </p:spPr>
        <p:txBody>
          <a:bodyPr>
            <a:normAutofit/>
          </a:bodyPr>
          <a:lstStyle/>
          <a:p>
            <a:r>
              <a:rPr lang="en-US" sz="3000" b="0">
                <a:ea typeface="+mj-lt"/>
                <a:cs typeface="+mj-lt"/>
              </a:rPr>
              <a:t>Data Cleaning &amp; Preprocessing</a:t>
            </a:r>
            <a:endParaRPr lang="en-US" sz="3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747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20393-EB2E-5BE8-B286-AC89495F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1376" y="590205"/>
            <a:ext cx="3832168" cy="5569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Checked and verified missing values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Removed duplicate records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 dirty="0">
                <a:ea typeface="+mn-lt"/>
                <a:cs typeface="+mn-lt"/>
              </a:rPr>
              <a:t>• Converted </a:t>
            </a:r>
            <a:r>
              <a:rPr lang="en-US" sz="1300">
                <a:ea typeface="+mn-lt"/>
                <a:cs typeface="+mn-lt"/>
              </a:rPr>
              <a:t>last_updated</a:t>
            </a:r>
            <a:r>
              <a:rPr lang="en-US" sz="1300" dirty="0">
                <a:ea typeface="+mn-lt"/>
                <a:cs typeface="+mn-lt"/>
              </a:rPr>
              <a:t> into datetime format</a:t>
            </a:r>
            <a:endParaRPr lang="en-US" sz="1300" dirty="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Created time-series features: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 - Year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 - Month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  - Day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Selected important forecasting features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ea typeface="+mn-lt"/>
                <a:cs typeface="+mn-lt"/>
              </a:rPr>
              <a:t>• Applied feature scaling using </a:t>
            </a:r>
            <a:r>
              <a:rPr lang="en-US" sz="1300" dirty="0" err="1">
                <a:ea typeface="+mn-lt"/>
                <a:cs typeface="+mn-lt"/>
              </a:rPr>
              <a:t>StandardScale</a:t>
            </a:r>
            <a:endParaRPr lang="en-US" sz="1300">
              <a:ea typeface="+mn-lt"/>
              <a:cs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Missing Values Found: 0</a:t>
            </a:r>
            <a:endParaRPr lang="en-US" sz="1300" b="1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Duplicate Records Removed Successfully</a:t>
            </a:r>
          </a:p>
          <a:p>
            <a:pPr>
              <a:lnSpc>
                <a:spcPct val="100000"/>
              </a:lnSpc>
              <a:buNone/>
            </a:pPr>
            <a:endParaRPr lang="en-US" sz="1300"/>
          </a:p>
        </p:txBody>
      </p:sp>
      <p:pic>
        <p:nvPicPr>
          <p:cNvPr id="4" name="Picture 3" descr="A diagram of data cleaning cycle&#10;&#10;AI-generated content may be incorrect.">
            <a:extLst>
              <a:ext uri="{FF2B5EF4-FFF2-40B4-BE49-F238E27FC236}">
                <a16:creationId xmlns:a16="http://schemas.microsoft.com/office/drawing/2014/main" id="{363D486C-1334-D038-B2A7-1C117387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56" r="22553" b="-2"/>
          <a:stretch>
            <a:fillRect/>
          </a:stretch>
        </p:blipFill>
        <p:spPr>
          <a:xfrm>
            <a:off x="3701552" y="590205"/>
            <a:ext cx="3931920" cy="55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17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C9F64E8-8F1D-4A06-B1A4-685E72C0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67E6F-436D-8A12-10D9-DD7014C1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0"/>
              <a:t>Exploratory Data Analysis (EDA)</a:t>
            </a:r>
            <a:endParaRPr lang="en-US" sz="2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66744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1C4AB-0D2E-2C8D-F9E3-22C9A10072D4}"/>
              </a:ext>
            </a:extLst>
          </p:cNvPr>
          <p:cNvSpPr txBox="1"/>
          <p:nvPr/>
        </p:nvSpPr>
        <p:spPr>
          <a:xfrm>
            <a:off x="838200" y="2368296"/>
            <a:ext cx="3721608" cy="350215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Strong correlations exist between weather variables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Seasonal temperature variations are visible across months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Temperature and humidity show noticeable relationships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Environmental variables influence weather conditions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BC04957-77BA-983C-02F7-A10CD4DBE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4" r="23777" b="-4"/>
          <a:stretch>
            <a:fillRect/>
          </a:stretch>
        </p:blipFill>
        <p:spPr>
          <a:xfrm>
            <a:off x="5171033" y="633618"/>
            <a:ext cx="2651760" cy="2679192"/>
          </a:xfrm>
          <a:prstGeom prst="rect">
            <a:avLst/>
          </a:prstGeom>
        </p:spPr>
      </p:pic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B8F3D581-FFB0-F4FD-9FF4-FDE3EB06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12" r="25200"/>
          <a:stretch>
            <a:fillRect/>
          </a:stretch>
        </p:blipFill>
        <p:spPr>
          <a:xfrm>
            <a:off x="5171033" y="3450349"/>
            <a:ext cx="2651760" cy="2679192"/>
          </a:xfrm>
          <a:prstGeom prst="rect">
            <a:avLst/>
          </a:prstGeom>
        </p:spPr>
      </p:pic>
      <p:pic>
        <p:nvPicPr>
          <p:cNvPr id="4" name="Content Placeholder 3" descr="A graph of a temperature distribution&#10;&#10;AI-generated content may be incorrect.">
            <a:extLst>
              <a:ext uri="{FF2B5EF4-FFF2-40B4-BE49-F238E27FC236}">
                <a16:creationId xmlns:a16="http://schemas.microsoft.com/office/drawing/2014/main" id="{B76D7A5F-D155-38AA-FE21-DF2C0F07A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4932" r="40667" b="1"/>
          <a:stretch>
            <a:fillRect/>
          </a:stretch>
        </p:blipFill>
        <p:spPr>
          <a:xfrm>
            <a:off x="8001000" y="633616"/>
            <a:ext cx="3781427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5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D597C-0FA1-B2E7-D5C8-F7D78116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 b="0">
                <a:ea typeface="+mj-lt"/>
                <a:cs typeface="+mj-lt"/>
              </a:rPr>
              <a:t>Forecasting Models &amp; Performance</a:t>
            </a:r>
            <a:endParaRPr lang="en-US" sz="32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7322-1D40-FA21-B2A3-77C6762FB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40" y="58682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>
                <a:ea typeface="+mn-lt"/>
                <a:cs typeface="+mn-lt"/>
              </a:rPr>
              <a:t>Implemented Models:</a:t>
            </a:r>
            <a:endParaRPr lang="en-US" sz="1000"/>
          </a:p>
          <a:p>
            <a:pPr>
              <a:lnSpc>
                <a:spcPct val="100000"/>
              </a:lnSpc>
              <a:buNone/>
            </a:pPr>
            <a:r>
              <a:rPr lang="en-US" sz="1000">
                <a:ea typeface="+mn-lt"/>
                <a:cs typeface="+mn-lt"/>
              </a:rPr>
              <a:t>• Linear Regression</a:t>
            </a:r>
            <a:endParaRPr lang="en-US" sz="1000"/>
          </a:p>
          <a:p>
            <a:pPr>
              <a:lnSpc>
                <a:spcPct val="100000"/>
              </a:lnSpc>
              <a:buNone/>
            </a:pPr>
            <a:r>
              <a:rPr lang="en-US" sz="1000">
                <a:ea typeface="+mn-lt"/>
                <a:cs typeface="+mn-lt"/>
              </a:rPr>
              <a:t>• Random Forest Regressor</a:t>
            </a:r>
            <a:endParaRPr lang="en-US" sz="100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a typeface="+mn-lt"/>
                <a:cs typeface="+mn-lt"/>
              </a:rPr>
              <a:t>• </a:t>
            </a:r>
            <a:r>
              <a:rPr lang="en-US" sz="1000" dirty="0" err="1">
                <a:ea typeface="+mn-lt"/>
                <a:cs typeface="+mn-lt"/>
              </a:rPr>
              <a:t>XGBoost</a:t>
            </a:r>
            <a:r>
              <a:rPr lang="en-US" sz="1000" dirty="0">
                <a:ea typeface="+mn-lt"/>
                <a:cs typeface="+mn-lt"/>
              </a:rPr>
              <a:t> Regressor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ea typeface="+mn-lt"/>
                <a:cs typeface="+mn-lt"/>
              </a:rPr>
              <a:t>Best Model: Random Forest Regressor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ea typeface="+mn-lt"/>
                <a:cs typeface="+mn-lt"/>
              </a:rPr>
              <a:t>R² Score: 0.9969</a:t>
            </a:r>
            <a:endParaRPr lang="en-US" sz="1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22042C-D8A0-46DC-1E60-47F11E30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3100951"/>
            <a:ext cx="5481509" cy="274075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F19A69-94FA-B850-A13F-59BAF1C10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743430"/>
              </p:ext>
            </p:extLst>
          </p:nvPr>
        </p:nvGraphicFramePr>
        <p:xfrm>
          <a:off x="6198781" y="2988581"/>
          <a:ext cx="5523084" cy="2965496"/>
        </p:xfrm>
        <a:graphic>
          <a:graphicData uri="http://schemas.openxmlformats.org/drawingml/2006/table">
            <a:tbl>
              <a:tblPr firstRow="1" bandRow="1">
                <a:noFill/>
                <a:tableStyleId>{073A0DAA-6AF3-43AB-8588-CEC1D06C72B9}</a:tableStyleId>
              </a:tblPr>
              <a:tblGrid>
                <a:gridCol w="1710810">
                  <a:extLst>
                    <a:ext uri="{9D8B030D-6E8A-4147-A177-3AD203B41FA5}">
                      <a16:colId xmlns:a16="http://schemas.microsoft.com/office/drawing/2014/main" val="43542254"/>
                    </a:ext>
                  </a:extLst>
                </a:gridCol>
                <a:gridCol w="1140308">
                  <a:extLst>
                    <a:ext uri="{9D8B030D-6E8A-4147-A177-3AD203B41FA5}">
                      <a16:colId xmlns:a16="http://schemas.microsoft.com/office/drawing/2014/main" val="2212440522"/>
                    </a:ext>
                  </a:extLst>
                </a:gridCol>
                <a:gridCol w="1180313">
                  <a:extLst>
                    <a:ext uri="{9D8B030D-6E8A-4147-A177-3AD203B41FA5}">
                      <a16:colId xmlns:a16="http://schemas.microsoft.com/office/drawing/2014/main" val="798646178"/>
                    </a:ext>
                  </a:extLst>
                </a:gridCol>
                <a:gridCol w="1491653">
                  <a:extLst>
                    <a:ext uri="{9D8B030D-6E8A-4147-A177-3AD203B41FA5}">
                      <a16:colId xmlns:a16="http://schemas.microsoft.com/office/drawing/2014/main" val="4030376298"/>
                    </a:ext>
                  </a:extLst>
                </a:gridCol>
              </a:tblGrid>
              <a:tr h="607793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rgbClr val="FFFFFF"/>
                          </a:solidFill>
                        </a:rPr>
                        <a:t>Model </a:t>
                      </a:r>
                    </a:p>
                  </a:txBody>
                  <a:tcPr marL="250464" marR="150278" marT="150278" marB="15027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250464" marR="150278" marT="150278" marB="15027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250464" marR="150278" marT="150278" marB="15027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cap="none" spc="0" noProof="0">
                          <a:solidFill>
                            <a:srgbClr val="FFFFFF"/>
                          </a:solidFill>
                          <a:latin typeface="Neue Haas Grotesk Text Pro"/>
                        </a:rPr>
                        <a:t>R² Score</a:t>
                      </a:r>
                      <a:endParaRPr lang="en-US" sz="1800" b="1" cap="none" spc="0">
                        <a:solidFill>
                          <a:srgbClr val="FFFFFF"/>
                        </a:solidFill>
                      </a:endParaRPr>
                    </a:p>
                  </a:txBody>
                  <a:tcPr marL="250464" marR="150278" marT="150278" marB="15027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807198"/>
                  </a:ext>
                </a:extLst>
              </a:tr>
              <a:tr h="8749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Linear Regression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~1.10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~1.70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~0.978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965514"/>
                  </a:ext>
                </a:extLst>
              </a:tr>
              <a:tr h="8749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Random Forest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0.281</a:t>
                      </a:r>
                    </a:p>
                    <a:p>
                      <a:pPr lvl="0">
                        <a:buNone/>
                      </a:pP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0.531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0.997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22334"/>
                  </a:ext>
                </a:extLst>
              </a:tr>
              <a:tr h="6077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XGBoost</a:t>
                      </a:r>
                      <a:endParaRPr lang="en-US" sz="1800" cap="none" spc="0" dirty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0.295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0.552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cap="none" spc="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eue Haas Grotesk Text Pro"/>
                        </a:rPr>
                        <a:t>0.997</a:t>
                      </a:r>
                      <a:endParaRPr lang="en-US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0464" marR="150278" marT="150278" marB="150278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84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01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7D91B-60A1-647E-346F-12EFE014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0"/>
              <a:t>Advanced Analysis</a:t>
            </a:r>
            <a:endParaRPr lang="en-US" sz="2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B2F38-D521-7344-C9FA-08C4C2FB589C}"/>
              </a:ext>
            </a:extLst>
          </p:cNvPr>
          <p:cNvSpPr txBox="1"/>
          <p:nvPr/>
        </p:nvSpPr>
        <p:spPr>
          <a:xfrm>
            <a:off x="838199" y="2359152"/>
            <a:ext cx="4056530" cy="34290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/>
              <a:t>Key Findings: </a:t>
            </a:r>
            <a:br>
              <a:rPr lang="en-US" sz="1700" dirty="0"/>
            </a:br>
            <a:r>
              <a:rPr lang="en-US" sz="1700"/>
              <a:t> • Isolation Forest detected </a:t>
            </a:r>
            <a:br>
              <a:rPr lang="en-US" sz="1700" dirty="0"/>
            </a:br>
            <a:r>
              <a:rPr lang="en-US" sz="1700"/>
              <a:t> unusual weather patterns </a:t>
            </a:r>
            <a:br>
              <a:rPr lang="en-US" sz="1700" dirty="0"/>
            </a:br>
            <a:r>
              <a:rPr lang="en-US" sz="1700"/>
              <a:t> • Feels-like temperature was </a:t>
            </a:r>
            <a:br>
              <a:rPr lang="en-US" sz="1700" dirty="0"/>
            </a:br>
            <a:r>
              <a:rPr lang="en-US" sz="1700"/>
              <a:t> the strongest predictor </a:t>
            </a:r>
            <a:br>
              <a:rPr lang="en-US" sz="1700" dirty="0"/>
            </a:br>
            <a:r>
              <a:rPr lang="en-US" sz="1700"/>
              <a:t> • Spatial analysis revealed </a:t>
            </a:r>
            <a:br>
              <a:rPr lang="en-US" sz="1700" dirty="0"/>
            </a:br>
            <a:r>
              <a:rPr lang="en-US" sz="1700"/>
              <a:t> global temperature trends</a:t>
            </a: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4" name="Content Placeholder 3" descr="A graph with a blue bar&#10;&#10;AI-generated content may be incorrect.">
            <a:extLst>
              <a:ext uri="{FF2B5EF4-FFF2-40B4-BE49-F238E27FC236}">
                <a16:creationId xmlns:a16="http://schemas.microsoft.com/office/drawing/2014/main" id="{34E05E13-16AC-B274-F42A-C221E1DC5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6705" y="874284"/>
            <a:ext cx="2873668" cy="1724200"/>
          </a:xfrm>
          <a:prstGeom prst="rect">
            <a:avLst/>
          </a:prstGeom>
        </p:spPr>
      </p:pic>
      <p:pic>
        <p:nvPicPr>
          <p:cNvPr id="6" name="Picture 5" descr="A diagram of a global temperature distribution&#10;&#10;AI-generated content may be incorrect.">
            <a:extLst>
              <a:ext uri="{FF2B5EF4-FFF2-40B4-BE49-F238E27FC236}">
                <a16:creationId xmlns:a16="http://schemas.microsoft.com/office/drawing/2014/main" id="{6587B285-9F8A-DC70-F79A-5E8091ECC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365" y="1016009"/>
            <a:ext cx="2873668" cy="1436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C21830-757B-5FA5-834C-A9BB50B82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705" y="3140762"/>
            <a:ext cx="5989328" cy="299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6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640B3DF-3C1C-49A7-8FA7-EE4A21CB0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FF79527-C7F1-4E06-8126-A8E8C5FE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10" y="384048"/>
            <a:ext cx="3740740" cy="5833872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31EC6-EA38-0C5E-3E2F-1AEA8800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919128"/>
            <a:ext cx="3103427" cy="4311239"/>
          </a:xfrm>
        </p:spPr>
        <p:txBody>
          <a:bodyPr anchor="t">
            <a:normAutofit/>
          </a:bodyPr>
          <a:lstStyle/>
          <a:p>
            <a:r>
              <a:rPr lang="en-US" sz="3200" b="0">
                <a:ea typeface="+mj-lt"/>
                <a:cs typeface="+mj-lt"/>
              </a:rPr>
              <a:t>Key Insights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BD33D-FB6F-0E72-3FA5-C368018E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222" y="919128"/>
            <a:ext cx="6730944" cy="529879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Random Forest achieved the best forecasting performance with an R² score of approximately 0.997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Weather variables such as humidity and feels_like_celsius showed strong predictive relationships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Environmental indicators such as PM2.5 demonstrated correlations with temperature patterns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Isolation Forest successfully identified anomalous weather observations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Spatial analysis revealed noticeable geographical variations in global weather conditions</a:t>
            </a:r>
            <a:endParaRPr lang="en-US" sz="1300"/>
          </a:p>
          <a:p>
            <a:pPr>
              <a:lnSpc>
                <a:spcPct val="100000"/>
              </a:lnSpc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• Machine learning models proved highly effective for weather trend forecasting</a:t>
            </a:r>
          </a:p>
          <a:p>
            <a:pPr>
              <a:lnSpc>
                <a:spcPct val="100000"/>
              </a:lnSpc>
              <a:buNone/>
            </a:pPr>
            <a:r>
              <a:rPr lang="en-US" sz="1300" b="1">
                <a:ea typeface="+mn-lt"/>
                <a:cs typeface="+mn-lt"/>
              </a:rPr>
              <a:t>Project Outcome:</a:t>
            </a:r>
            <a:endParaRPr lang="en-US" sz="1300" b="1"/>
          </a:p>
          <a:p>
            <a:pPr marL="0" indent="0">
              <a:lnSpc>
                <a:spcPct val="100000"/>
              </a:lnSpc>
              <a:buNone/>
            </a:pPr>
            <a:r>
              <a:rPr lang="en-US" sz="1300">
                <a:ea typeface="+mn-lt"/>
                <a:cs typeface="+mn-lt"/>
              </a:rPr>
              <a:t>Successfully developed a machine learning-based weather forecasting and climate analysis system using global weather data.</a:t>
            </a:r>
            <a:endParaRPr lang="en-US" sz="13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FA739B-A75D-DA77-F75D-36ED592E9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889233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33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2891-C052-D1EA-D6D2-A91E4A90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895441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CCB5B-CE0B-717F-3814-E4BF07FDE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56537"/>
            <a:ext cx="10168128" cy="442745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This project demonstrated the successful application of machine learning and data science techniques for weather forecasting, climate analysis, anomaly detection, and environmental impact analysis using global weather data.</a:t>
            </a: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Key Achievements:</a:t>
            </a:r>
            <a:endParaRPr lang="en-US" b="1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Built multiple forecasting models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Achieved high prediction accuracy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Performed advanced climate analysis                      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• Developed professional data science workflow       </a:t>
            </a:r>
          </a:p>
          <a:p>
            <a:pPr marL="0" indent="0" algn="ctr">
              <a:buNone/>
            </a:pPr>
            <a:r>
              <a:rPr lang="en-US" sz="2800" b="1">
                <a:ea typeface="+mn-lt"/>
                <a:cs typeface="+mn-lt"/>
              </a:rPr>
              <a:t>Thank You          </a:t>
            </a: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Questions &amp; Discussion </a:t>
            </a:r>
          </a:p>
          <a:p>
            <a:pPr marL="0" indent="0" algn="r">
              <a:buNone/>
            </a:pPr>
            <a:r>
              <a:rPr lang="en-US" dirty="0">
                <a:hlinkClick r:id="rId2"/>
              </a:rPr>
              <a:t>linkedin.com/in/devangibhalala</a:t>
            </a:r>
          </a:p>
          <a:p>
            <a:pPr algn="ctr">
              <a:buNone/>
            </a:pPr>
            <a:r>
              <a:rPr lang="en-US" dirty="0"/>
              <a:t>                                                                                                                   </a:t>
            </a:r>
            <a:r>
              <a:rPr lang="en-US" dirty="0">
                <a:hlinkClick r:id="rId3"/>
              </a:rPr>
              <a:t>github.com/DevangiBhalala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Picture 5" descr="A white cat in a black circle&#10;&#10;AI-generated content may be incorrect.">
            <a:extLst>
              <a:ext uri="{FF2B5EF4-FFF2-40B4-BE49-F238E27FC236}">
                <a16:creationId xmlns:a16="http://schemas.microsoft.com/office/drawing/2014/main" id="{A7DF827B-4E7E-447C-D6F9-37C33E1D2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235" y="6004625"/>
            <a:ext cx="337735" cy="311904"/>
          </a:xfrm>
          <a:prstGeom prst="rect">
            <a:avLst/>
          </a:prstGeom>
        </p:spPr>
      </p:pic>
      <p:pic>
        <p:nvPicPr>
          <p:cNvPr id="8" name="Picture 7" descr="A blue square with white letters and a dot in the middle&#10;&#10;AI-generated content may be incorrect.">
            <a:extLst>
              <a:ext uri="{FF2B5EF4-FFF2-40B4-BE49-F238E27FC236}">
                <a16:creationId xmlns:a16="http://schemas.microsoft.com/office/drawing/2014/main" id="{4AFBE599-7A54-76FB-25EB-6BB4C3A66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896" y="5578421"/>
            <a:ext cx="286073" cy="29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7805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AccentBoxVTI</vt:lpstr>
      <vt:lpstr>Weather Trend Forecasting and Climate Analysis</vt:lpstr>
      <vt:lpstr>PM Accelerator Mission</vt:lpstr>
      <vt:lpstr>Project Objectives</vt:lpstr>
      <vt:lpstr>Dataset Overview</vt:lpstr>
      <vt:lpstr>Data Cleaning &amp; Preprocessing</vt:lpstr>
      <vt:lpstr>Exploratory Data Analysis (EDA)</vt:lpstr>
      <vt:lpstr>Forecasting Models &amp; Performance</vt:lpstr>
      <vt:lpstr>Advanced Analysis</vt:lpstr>
      <vt:lpstr>Key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572</cp:revision>
  <dcterms:created xsi:type="dcterms:W3CDTF">2026-05-24T04:00:54Z</dcterms:created>
  <dcterms:modified xsi:type="dcterms:W3CDTF">2026-05-24T08:09:50Z</dcterms:modified>
</cp:coreProperties>
</file>